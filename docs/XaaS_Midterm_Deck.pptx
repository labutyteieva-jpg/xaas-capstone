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C1D6BC-9F22-4FE5-82F7-3C73EF285A35}">
  <a:tblStyle styleId="{57C1D6BC-9F22-4FE5-82F7-3C73EF285A3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003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conv/vu_logo_white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11480"/>
            <a:ext cx="122756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502920" y="2240280"/>
            <a:ext cx="914400" cy="411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2395728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b="0" i="1" lang="en-US" sz="4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XaaS — Export-as-a-Service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D6E1"/>
              </a:buClr>
              <a:buSzPts val="1900"/>
              <a:buFont typeface="Times New Roman"/>
              <a:buNone/>
            </a:pPr>
            <a:r>
              <a:rPr b="0" i="1" lang="en-US" sz="1900" u="none" cap="none" strike="noStrike">
                <a:solidFill>
                  <a:srgbClr val="F1D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export-decision engine for European SMEs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40690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Capstone Midterm — Progress Monitoring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Ieva Labutyte · Danielius Zarkich · Dominykas Baronas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7BFD0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E7BFD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 Business School · DeepTech Entrepreneurship · June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conv/vu_logo_color.png"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8270" y="292608"/>
            <a:ext cx="9899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365760" y="292608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opportunity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5760" y="4809744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6C"/>
              </a:buClr>
              <a:buSzPts val="900"/>
              <a:buFont typeface="Times New Roman"/>
              <a:buNone/>
            </a:pPr>
            <a:r>
              <a:rPr b="0" i="1" lang="en-US" sz="900" u="none" cap="none" strike="noStrike">
                <a:solidFill>
                  <a:srgbClr val="6E6E6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Sources: Statistics Lithuania (2024); Eurostat ext_tec10.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5760" y="1143000"/>
            <a:ext cx="4663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XaaS is one tool that helps a European SME decide where to export, what shipping will cost, and how to stay compliant — instead of stitching together five or more tools and consultants.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2743200"/>
            <a:ext cx="4663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1300"/>
              <a:buFont typeface="Times New Roman"/>
              <a:buChar char="•"/>
            </a:pPr>
            <a:r>
              <a:rPr b="0" i="0" lang="en-US" sz="13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Beachhead: SMEs exporting within Europe — where the single market is most navigable.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3B3C3A"/>
              </a:buClr>
              <a:buSzPts val="1300"/>
              <a:buFont typeface="Times New Roman"/>
              <a:buChar char="•"/>
            </a:pPr>
            <a:r>
              <a:rPr b="0" i="0" lang="en-US" sz="13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Expansion: distant, high-value markets, where the gap is widest.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303520" y="1143000"/>
            <a:ext cx="3474720" cy="1051560"/>
          </a:xfrm>
          <a:prstGeom prst="roundRect">
            <a:avLst>
              <a:gd fmla="val 5217" name="adj"/>
            </a:avLst>
          </a:prstGeom>
          <a:solidFill>
            <a:srgbClr val="FBEFF3"/>
          </a:solidFill>
          <a:ln cap="flat" cmpd="sng" w="9525">
            <a:solidFill>
              <a:srgbClr val="7A00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440680" y="1234440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51%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812280" y="123444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Lithuania's exports come from SMEs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303520" y="2350008"/>
            <a:ext cx="3474720" cy="1051560"/>
          </a:xfrm>
          <a:prstGeom prst="roundRect">
            <a:avLst>
              <a:gd fmla="val 5217" name="adj"/>
            </a:avLst>
          </a:prstGeom>
          <a:solidFill>
            <a:srgbClr val="FBEFF3"/>
          </a:solidFill>
          <a:ln cap="flat" cmpd="sng" w="9525">
            <a:solidFill>
              <a:srgbClr val="7A00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440680" y="244144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812280" y="2441448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 trade-tech firms — none integrate the SME export decision end-to-end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303520" y="3557016"/>
            <a:ext cx="3474720" cy="1051560"/>
          </a:xfrm>
          <a:prstGeom prst="roundRect">
            <a:avLst>
              <a:gd fmla="val 5217" name="adj"/>
            </a:avLst>
          </a:prstGeom>
          <a:solidFill>
            <a:srgbClr val="FBEFF3"/>
          </a:solidFill>
          <a:ln cap="flat" cmpd="sng" w="9525">
            <a:solidFill>
              <a:srgbClr val="7A00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440680" y="3648456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5+ → 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812280" y="3648456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advisers replaced by a single interface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conv/vu_logo_color.png"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8270" y="292608"/>
            <a:ext cx="9899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365760" y="292608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&amp; development logic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65760" y="1188720"/>
            <a:ext cx="84124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B3C3A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an orchestration engine give SMEs more accurate market recommendations and more reliable compliance guidance than a single general-purpose AI model?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7A003B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is deep-tech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B3C3A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a chatbot wrapper </a:t>
            </a:r>
            <a:r>
              <a:rPr lang="en-US" sz="1300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0" i="0" lang="en-US" sz="13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coordinates specialised components and adds a verification step before returning high-stakes compliance answers.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7A003B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of the thesis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B3C3A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empirically evaluate the engine against a single-model baseline. The architecture choice and meta-learning are deliberately deferred to the build phase.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conv/vu_logo_color.png" id="53" name="Google Shape;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8270" y="292608"/>
            <a:ext cx="9899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365760" y="292608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SMEs are under-served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365760" y="4809744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6C"/>
              </a:buClr>
              <a:buSzPts val="900"/>
              <a:buFont typeface="Times New Roman"/>
              <a:buNone/>
            </a:pPr>
            <a:r>
              <a:rPr b="0" i="1" lang="en-US" sz="900" u="none" cap="none" strike="noStrike">
                <a:solidFill>
                  <a:srgbClr val="6E6E6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Eurostat ext_tec10 (trade by enterprise size), WORLD basis.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365760" y="1188720"/>
            <a:ext cx="41148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Beachhead </a:t>
            </a:r>
            <a:r>
              <a:rPr b="1" lang="en-US" sz="1300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1" i="0" lang="en-US" sz="13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Europe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B3C3A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inside the single market, an SME without an export team juggles market research, logistics, customs and VAT across separate tools. Cost and risk fall hardest on them.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7A003B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Expansion </a:t>
            </a:r>
            <a:r>
              <a:rPr b="1" lang="en-US" sz="1300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i="0" lang="en-US" sz="13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distant markets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B3C3A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under-representation gap is widest far from home — our clearest quantified signal (right).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xaas-capstone/research/reports/lt_us_sme_gap.png" id="57" name="Google Shape;5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1143000"/>
            <a:ext cx="4160520" cy="3118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conv/vu_logo_color.png" id="63" name="Google Shape;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8270" y="292608"/>
            <a:ext cx="9899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/>
          <p:nvPr/>
        </p:nvSpPr>
        <p:spPr>
          <a:xfrm>
            <a:off x="365760" y="292608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base and the gap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365760" y="4809744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6C"/>
              </a:buClr>
              <a:buSzPts val="900"/>
              <a:buFont typeface="Times New Roman"/>
              <a:buNone/>
            </a:pPr>
            <a:r>
              <a:rPr b="0" i="1" lang="en-US" sz="900" u="none" cap="none" strike="noStrike">
                <a:solidFill>
                  <a:srgbClr val="6E6E6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Sources: Eurostat; Statistics Lithuania; XaaS competitive analysis (2026).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365760" y="1188720"/>
            <a:ext cx="42062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Verified baseline (open data): Lithuania goods exports €36.8bn in 2024; SMEs ≈ 51% of exports.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3B3C3A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Under-representation is concentrated in distant markets, not nearby European ones.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3B3C3A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Competitive scan of 15+ EU trade-tech firms (freight, visibility, compliance, full-stack): none integrate the SME export decision end-to-end.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3B3C3A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fragmentation is the gap an SME-focused decision layer can fill.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xaas-capstone/research/reports/lt_underserved_markets_clean.png"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1188720"/>
            <a:ext cx="4069080" cy="305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conv/vu_logo_color.png"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8270" y="292608"/>
            <a:ext cx="9899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8"/>
          <p:cNvSpPr/>
          <p:nvPr/>
        </p:nvSpPr>
        <p:spPr>
          <a:xfrm>
            <a:off x="365760" y="292608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innovation: an orchestration engine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365760" y="1234440"/>
            <a:ext cx="2670048" cy="1371600"/>
          </a:xfrm>
          <a:prstGeom prst="roundRect">
            <a:avLst>
              <a:gd fmla="val 4000" name="adj"/>
            </a:avLst>
          </a:prstGeom>
          <a:solidFill>
            <a:srgbClr val="FBEFF3"/>
          </a:solidFill>
          <a:ln cap="flat" cmpd="sng" w="9525">
            <a:solidFill>
              <a:srgbClr val="7A00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475488" y="1325880"/>
            <a:ext cx="245059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1250"/>
              <a:buFont typeface="Times New Roman"/>
              <a:buNone/>
            </a:pPr>
            <a:r>
              <a:rPr b="1" i="0" lang="en-US" sz="125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Specialised components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B3C3A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screening · logistics estimate · compliance rules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8"/>
          <p:cNvCxnSpPr/>
          <p:nvPr/>
        </p:nvCxnSpPr>
        <p:spPr>
          <a:xfrm>
            <a:off x="3054096" y="1920240"/>
            <a:ext cx="256032" cy="0"/>
          </a:xfrm>
          <a:prstGeom prst="straightConnector1">
            <a:avLst/>
          </a:prstGeom>
          <a:noFill/>
          <a:ln cap="flat" cmpd="sng" w="19050">
            <a:solidFill>
              <a:srgbClr val="7A00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" name="Google Shape;78;p8"/>
          <p:cNvSpPr/>
          <p:nvPr/>
        </p:nvSpPr>
        <p:spPr>
          <a:xfrm>
            <a:off x="3328416" y="1234440"/>
            <a:ext cx="2670048" cy="1371600"/>
          </a:xfrm>
          <a:prstGeom prst="roundRect">
            <a:avLst>
              <a:gd fmla="val 4000" name="adj"/>
            </a:avLst>
          </a:prstGeom>
          <a:solidFill>
            <a:srgbClr val="F3D9E2"/>
          </a:solidFill>
          <a:ln cap="flat" cmpd="sng" w="9525">
            <a:solidFill>
              <a:srgbClr val="7A00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3438144" y="1325880"/>
            <a:ext cx="245059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1250"/>
              <a:buFont typeface="Times New Roman"/>
              <a:buNone/>
            </a:pPr>
            <a:r>
              <a:rPr b="1" i="0" lang="en-US" sz="125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Orchestrator + verification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B3C3A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Coordinates them, then checks high-stakes compliance answers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8"/>
          <p:cNvCxnSpPr/>
          <p:nvPr/>
        </p:nvCxnSpPr>
        <p:spPr>
          <a:xfrm>
            <a:off x="6016752" y="1920240"/>
            <a:ext cx="256032" cy="0"/>
          </a:xfrm>
          <a:prstGeom prst="straightConnector1">
            <a:avLst/>
          </a:prstGeom>
          <a:noFill/>
          <a:ln cap="flat" cmpd="sng" w="19050">
            <a:solidFill>
              <a:srgbClr val="7A00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" name="Google Shape;81;p8"/>
          <p:cNvSpPr/>
          <p:nvPr/>
        </p:nvSpPr>
        <p:spPr>
          <a:xfrm>
            <a:off x="6291072" y="1234440"/>
            <a:ext cx="2670048" cy="1371600"/>
          </a:xfrm>
          <a:prstGeom prst="roundRect">
            <a:avLst>
              <a:gd fmla="val 4000" name="adj"/>
            </a:avLst>
          </a:prstGeom>
          <a:solidFill>
            <a:srgbClr val="FBEFF3"/>
          </a:solidFill>
          <a:ln cap="flat" cmpd="sng" w="9525">
            <a:solidFill>
              <a:srgbClr val="7A00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/>
          <p:nvPr/>
        </p:nvSpPr>
        <p:spPr>
          <a:xfrm>
            <a:off x="6400800" y="1325880"/>
            <a:ext cx="245059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1250"/>
              <a:buFont typeface="Times New Roman"/>
              <a:buNone/>
            </a:pPr>
            <a:r>
              <a:rPr b="1" i="0" lang="en-US" sz="125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recommendation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B3C3A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to export, est. cost &amp; time, compliance to meet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type: </a:t>
            </a:r>
            <a:r>
              <a:rPr b="0" i="0" lang="en-US" sz="13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and technology </a:t>
            </a:r>
            <a:r>
              <a:rPr lang="en-US" sz="1300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0" i="0" lang="en-US" sz="13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advance is reliability, not just generation.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365760" y="33375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Evaluation: </a:t>
            </a:r>
            <a:r>
              <a:rPr b="0" i="0" lang="en-US" sz="13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measured against a single-model baseline on (1) market-recommendation accuracy and (2) compliance reliability, using open data and a curated compliance test 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Honest limit: </a:t>
            </a:r>
            <a:r>
              <a:rPr b="0" i="0" lang="en-US" sz="13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perfect ground truth for the “best” market, so compliance is the cleaner objective test.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conv/vu_logo_color.png" id="91" name="Google Shape;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8270" y="292608"/>
            <a:ext cx="9899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/>
          <p:nvPr/>
        </p:nvSpPr>
        <p:spPr>
          <a:xfrm>
            <a:off x="365760" y="292608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validation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365760" y="1188720"/>
            <a:ext cx="84124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B3C3A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Secondary-data analysis on open EU sources (Eurostat, Comtrade), fully reproducible in the project repository.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7A003B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B3C3A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~10–12 semi-structured interviews and a survey using a Van Westendorp price test, structured discovery-before-concept to avoid priming, analysed thematically.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7A003B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(before the midterm)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B3C3A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Recruit and run the first 2–3 discovery interviews; track perceived usefulness, intent to use and pay, and recommendation accuracy.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conv/vu_logo_color.png" id="99" name="Google Shape;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8270" y="292608"/>
            <a:ext cx="9899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365760" y="292608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model: methodology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365760" y="1234440"/>
            <a:ext cx="8412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1400"/>
              <a:buFont typeface="Times New Roman"/>
              <a:buChar char="•"/>
            </a:pPr>
            <a:r>
              <a:rPr b="0" i="0" lang="en-US" sz="14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Chosen methods: the Business Model Canvas for our own model, plus benchmarking for the comparison.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3B3C3A"/>
              </a:buClr>
              <a:buSzPts val="1400"/>
              <a:buFont typeface="Times New Roman"/>
              <a:buChar char="•"/>
            </a:pPr>
            <a:r>
              <a:rPr b="0" i="0" lang="en-US" sz="14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fits: the canvas makes each assumption explicit and maps onto the required final business-plan appendix.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3B3C3A"/>
              </a:buClr>
              <a:buSzPts val="1400"/>
              <a:buFont typeface="Times New Roman"/>
              <a:buChar char="•"/>
            </a:pPr>
            <a:r>
              <a:rPr b="0" i="0" lang="en-US" sz="14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Benchmarking learns from real winners and failures in the European trade-tech market.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3B3C3A"/>
              </a:buClr>
              <a:buSzPts val="1400"/>
              <a:buFont typeface="Times New Roman"/>
              <a:buChar char="•"/>
            </a:pPr>
            <a:r>
              <a:rPr b="0" i="0" lang="en-US" sz="14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 a first-pass canvas with every block tagged validated or hypothesis, and a competitor benchmark.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conv/vu_logo_color.png" id="107" name="Google Shape;1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8270" y="292608"/>
            <a:ext cx="9899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1"/>
          <p:cNvSpPr/>
          <p:nvPr/>
        </p:nvSpPr>
        <p:spPr>
          <a:xfrm>
            <a:off x="365760" y="292608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Model Canvas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365760" y="4809744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6C"/>
              </a:buClr>
              <a:buSzPts val="900"/>
              <a:buFont typeface="Times New Roman"/>
              <a:buNone/>
            </a:pPr>
            <a:r>
              <a:rPr b="0" i="1" lang="en-US" sz="900" u="none" cap="none" strike="noStrike">
                <a:solidFill>
                  <a:srgbClr val="6E6E6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Tagged validated vs hypothesis in docs/BUSINESS_MODEL.md.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320040" y="1005840"/>
            <a:ext cx="1627632" cy="2560320"/>
          </a:xfrm>
          <a:prstGeom prst="roundRect">
            <a:avLst>
              <a:gd fmla="val 2809" name="adj"/>
            </a:avLst>
          </a:prstGeom>
          <a:solidFill>
            <a:srgbClr val="FFFFFF"/>
          </a:solidFill>
          <a:ln cap="flat" cmpd="sng" w="9525">
            <a:solidFill>
              <a:srgbClr val="C9C9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1"/>
          <p:cNvSpPr/>
          <p:nvPr/>
        </p:nvSpPr>
        <p:spPr>
          <a:xfrm>
            <a:off x="374904" y="105156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950"/>
              <a:buFont typeface="Times New Roman"/>
              <a:buNone/>
            </a:pPr>
            <a:r>
              <a:rPr b="1" i="0" lang="en-US" sz="9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partners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374904" y="1280160"/>
            <a:ext cx="1517904" cy="2231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Eurostat / Comtrade 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Freight &amp; customs brokers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Chambers, EEN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/ compute providers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2039112" y="1005840"/>
            <a:ext cx="1627632" cy="123444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9525">
            <a:solidFill>
              <a:srgbClr val="C9C9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"/>
          <p:cNvSpPr/>
          <p:nvPr/>
        </p:nvSpPr>
        <p:spPr>
          <a:xfrm>
            <a:off x="2093976" y="105156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950"/>
              <a:buFont typeface="Times New Roman"/>
              <a:buNone/>
            </a:pPr>
            <a:r>
              <a:rPr b="1" i="0" lang="en-US" sz="9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activities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2093976" y="1280160"/>
            <a:ext cx="151790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&amp; test the engine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data current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Onboard SMEs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2039112" y="2331720"/>
            <a:ext cx="1627632" cy="123444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9525">
            <a:solidFill>
              <a:srgbClr val="C9C9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2093976" y="237744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950"/>
              <a:buFont typeface="Times New Roman"/>
              <a:buNone/>
            </a:pPr>
            <a:r>
              <a:rPr b="1" i="0" lang="en-US" sz="9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resources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2093976" y="2606040"/>
            <a:ext cx="151790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orchestration engine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data + rules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3758184" y="1005840"/>
            <a:ext cx="1627632" cy="2560320"/>
          </a:xfrm>
          <a:prstGeom prst="roundRect">
            <a:avLst>
              <a:gd fmla="val 2809" name="adj"/>
            </a:avLst>
          </a:prstGeom>
          <a:solidFill>
            <a:srgbClr val="F3D9E2"/>
          </a:solidFill>
          <a:ln cap="flat" cmpd="sng" w="9525">
            <a:solidFill>
              <a:srgbClr val="7A00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"/>
          <p:cNvSpPr/>
          <p:nvPr/>
        </p:nvSpPr>
        <p:spPr>
          <a:xfrm>
            <a:off x="3813048" y="105156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950"/>
              <a:buFont typeface="Times New Roman"/>
              <a:buNone/>
            </a:pPr>
            <a:r>
              <a:rPr b="1" i="0" lang="en-US" sz="95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propositions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3813048" y="1280160"/>
            <a:ext cx="1517904" cy="2231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tool: markets + shipping cost/time + compliance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Replaces 5+ tools &amp; consultants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on compliance — checked, not guessed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5477256" y="1005840"/>
            <a:ext cx="1627632" cy="1234440"/>
          </a:xfrm>
          <a:prstGeom prst="roundRect">
            <a:avLst>
              <a:gd fmla="val 3704" name="adj"/>
            </a:avLst>
          </a:prstGeom>
          <a:solidFill>
            <a:srgbClr val="FBEFF3"/>
          </a:solidFill>
          <a:ln cap="flat" cmpd="sng" w="9525">
            <a:solidFill>
              <a:srgbClr val="7A00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5532120" y="105156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950"/>
              <a:buFont typeface="Times New Roman"/>
              <a:buNone/>
            </a:pPr>
            <a:r>
              <a:rPr b="1" i="0" lang="en-US" sz="95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relationships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5532120" y="1280160"/>
            <a:ext cx="151790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Self-serve + onboarding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help on compliance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5477256" y="2331720"/>
            <a:ext cx="1627632" cy="1234440"/>
          </a:xfrm>
          <a:prstGeom prst="roundRect">
            <a:avLst>
              <a:gd fmla="val 3704" name="adj"/>
            </a:avLst>
          </a:prstGeom>
          <a:solidFill>
            <a:srgbClr val="FBEFF3"/>
          </a:solidFill>
          <a:ln cap="flat" cmpd="sng" w="9525">
            <a:solidFill>
              <a:srgbClr val="7A00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"/>
          <p:cNvSpPr/>
          <p:nvPr/>
        </p:nvSpPr>
        <p:spPr>
          <a:xfrm>
            <a:off x="5532120" y="237744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950"/>
              <a:buFont typeface="Times New Roman"/>
              <a:buNone/>
            </a:pPr>
            <a:r>
              <a:rPr b="1" i="0" lang="en-US" sz="95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5532120" y="2606040"/>
            <a:ext cx="151790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 (self-serve)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Chambers / EEN / associations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7196328" y="1005840"/>
            <a:ext cx="1627632" cy="2560320"/>
          </a:xfrm>
          <a:prstGeom prst="roundRect">
            <a:avLst>
              <a:gd fmla="val 2809" name="adj"/>
            </a:avLst>
          </a:prstGeom>
          <a:solidFill>
            <a:srgbClr val="FBEFF3"/>
          </a:solidFill>
          <a:ln cap="flat" cmpd="sng" w="9525">
            <a:solidFill>
              <a:srgbClr val="7A00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/>
          <p:nvPr/>
        </p:nvSpPr>
        <p:spPr>
          <a:xfrm>
            <a:off x="7251192" y="105156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950"/>
              <a:buFont typeface="Times New Roman"/>
              <a:buNone/>
            </a:pPr>
            <a:r>
              <a:rPr b="1" i="0" lang="en-US" sz="95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segments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7251192" y="1280160"/>
            <a:ext cx="1517904" cy="2231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 SMEs that export, no in-house export team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Manufacturing &amp; machinery first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Later: distant markets (US)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320040" y="3675888"/>
            <a:ext cx="4114800" cy="987552"/>
          </a:xfrm>
          <a:prstGeom prst="roundRect">
            <a:avLst>
              <a:gd fmla="val 4630" name="adj"/>
            </a:avLst>
          </a:prstGeom>
          <a:solidFill>
            <a:srgbClr val="F2F2F0"/>
          </a:solidFill>
          <a:ln cap="flat" cmpd="sng" w="9525">
            <a:solidFill>
              <a:srgbClr val="C9C9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74904" y="3721608"/>
            <a:ext cx="40050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950"/>
              <a:buFont typeface="Times New Roman"/>
              <a:buNone/>
            </a:pPr>
            <a:r>
              <a:rPr b="1" i="0" lang="en-US" sz="9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structure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374904" y="3950208"/>
            <a:ext cx="40050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build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/ compute per query — watch this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Compliance expertise, hosting, marketing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4526280" y="3675888"/>
            <a:ext cx="4297680" cy="987552"/>
          </a:xfrm>
          <a:prstGeom prst="roundRect">
            <a:avLst>
              <a:gd fmla="val 4630" name="adj"/>
            </a:avLst>
          </a:prstGeom>
          <a:solidFill>
            <a:srgbClr val="FBEFF3"/>
          </a:solidFill>
          <a:ln cap="flat" cmpd="sng" w="9525">
            <a:solidFill>
              <a:srgbClr val="7A00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"/>
          <p:cNvSpPr/>
          <p:nvPr/>
        </p:nvSpPr>
        <p:spPr>
          <a:xfrm>
            <a:off x="4581144" y="3721608"/>
            <a:ext cx="4187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950"/>
              <a:buFont typeface="Times New Roman"/>
              <a:buNone/>
            </a:pPr>
            <a:r>
              <a:rPr b="1" i="0" lang="en-US" sz="95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streams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4581144" y="3950208"/>
            <a:ext cx="41879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subscription (main)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200"/>
              </a:spcBef>
              <a:spcAft>
                <a:spcPts val="0"/>
              </a:spcAft>
              <a:buClr>
                <a:srgbClr val="3B3C3A"/>
              </a:buClr>
              <a:buSzPts val="800"/>
              <a:buFont typeface="Times New Roman"/>
              <a:buChar char="•"/>
            </a:pPr>
            <a:r>
              <a:rPr b="0" i="0" lang="en-US" sz="80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Premium reports · partner referral fees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conv/vu_logo_color.png" id="142" name="Google Shape;1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8270" y="292608"/>
            <a:ext cx="9899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2"/>
          <p:cNvSpPr/>
          <p:nvPr/>
        </p:nvSpPr>
        <p:spPr>
          <a:xfrm>
            <a:off x="365760" y="292608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our model compares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4" name="Google Shape;144;p12"/>
          <p:cNvGraphicFramePr/>
          <p:nvPr/>
        </p:nvGraphicFramePr>
        <p:xfrm>
          <a:off x="36576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{57C1D6BC-9F22-4FE5-82F7-3C73EF285A35}</a:tableStyleId>
              </a:tblPr>
              <a:tblGrid>
                <a:gridCol w="3108950"/>
                <a:gridCol w="1828800"/>
                <a:gridCol w="34747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archetype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0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 model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0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Lesson for XaaS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003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Freight execution (sennder, Forto)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Margin on freight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Capital-heavy &amp; cyclical </a:t>
                      </a:r>
                      <a:r>
                        <a:rPr lang="en-US" sz="1050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avoid; stay in the decision layer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Visibility SaaS (Shippeo, project44)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Subscription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Subscription works; target SMEs, not enterprise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Compliance tech (Digicust)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Subscription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 pain </a:t>
                      </a:r>
                      <a:r>
                        <a:rPr lang="en-US" sz="1050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integrate it, don't be compliance-only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Full-stack (E2open, Flexport)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Enterprise licences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Integrated proven at the top; gap = SME-affordable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Generic AI assistants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Subscription / usage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C3A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en-US" sz="1050" u="none" cap="none" strike="noStrike">
                          <a:solidFill>
                            <a:srgbClr val="3B3C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Cheap but unreliable; our verification is the moat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" name="Google Shape;145;p12"/>
          <p:cNvSpPr/>
          <p:nvPr/>
        </p:nvSpPr>
        <p:spPr>
          <a:xfrm>
            <a:off x="365760" y="411480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1250"/>
              <a:buFont typeface="Times New Roman"/>
              <a:buNone/>
            </a:pPr>
            <a:r>
              <a:rPr b="1" i="0" lang="en-US" sz="125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Positioning: </a:t>
            </a:r>
            <a:r>
              <a:rPr b="0" i="0" lang="en-US" sz="12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subscription, SME-focused, integrated decision layer, differentiated by verified reliability.   </a:t>
            </a:r>
            <a:r>
              <a:rPr b="1" i="0" lang="en-US" sz="125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test: </a:t>
            </a:r>
            <a:r>
              <a:rPr b="0" i="0" lang="en-US" sz="12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 willingness-to-pay, compliance trust, and orchestration unit economics.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conv/vu_logo_color.png" id="151" name="Google Shape;1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8270" y="292608"/>
            <a:ext cx="9899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3"/>
          <p:cNvSpPr/>
          <p:nvPr/>
        </p:nvSpPr>
        <p:spPr>
          <a:xfrm>
            <a:off x="365760" y="292608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the project is heading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365760" y="1188720"/>
            <a:ext cx="84124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3B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has evolved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B3C3A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started from “exports are declining,” found the data didn't support a simple decline story, and reframed to “SMEs are under-served in distant markets,” with Europe as the feasible beachhead.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7A003B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steps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B3C3A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interviews and the survey; restore the SME-barrier statistic from a reproducible EIB source; choose the architecture; build the MVP (summer–autumn); grow the canvas into the full business plan.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7A003B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7A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of AI tools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B3C3A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3B3C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(Claude) was used for data-correction support, drafting, and research design; every output was verified against official sources. Full disclosure and transcripts are kept per VU BS AI guidelines.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