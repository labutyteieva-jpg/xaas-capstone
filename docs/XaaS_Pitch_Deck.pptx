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400" kern="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XaaS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Export-as-a-Service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operating system for Lithuanian &amp; EU SME exporters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0F2B4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4434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Ieva Labutyte  |  Danielius Zarkich  |  Dominykas Baronas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 Business School  |  Deep Tech Entrepreneurship  |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A16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Exporting from Lithuania is broken for small businesses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6032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54480"/>
            <a:ext cx="256032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8308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EF44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25%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31520" y="25146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Lithuanian firms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trade disruptions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2461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EIB Investment Survey 2024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383280" y="1554480"/>
            <a:ext cx="256032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83280" y="1554480"/>
            <a:ext cx="256032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1" name="Text 9"/>
          <p:cNvSpPr/>
          <p:nvPr/>
        </p:nvSpPr>
        <p:spPr>
          <a:xfrm>
            <a:off x="3383280" y="178308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51%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3566160" y="25146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exports come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SMEs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66160" y="32461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Eurostat ext_tec10 dataset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17920" y="1554480"/>
            <a:ext cx="256032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1554480"/>
            <a:ext cx="256032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0" y="178308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5+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6400800" y="25146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 tools needed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manage one export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0" y="32461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Compliance, logistics, docs, payments, customs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48640" y="4206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 is the most affected sector — up to 11% reporting major export obstacles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A16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Market Opportunity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3931920" cy="3474720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371600"/>
            <a:ext cx="32004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6D6A0"/>
                </a:solidFill>
              </a:rPr>
              <a:t>€54B</a:t>
            </a:r>
            <a:endParaRPr lang="en-US" sz="52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Lithuanian exports (2024)</a:t>
            </a:r>
            <a:endParaRPr lang="en-US" sz="5200" dirty="0"/>
          </a:p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 </a:t>
            </a:r>
            <a:endParaRPr lang="en-US" sz="5200" dirty="0"/>
          </a:p>
          <a:p>
            <a:pPr indent="0" marL="0">
              <a:buNone/>
            </a:pPr>
            <a:r>
              <a:rPr lang="en-US" sz="3600" b="1" dirty="0">
                <a:solidFill>
                  <a:srgbClr val="0891B2"/>
                </a:solidFill>
              </a:rPr>
              <a:t>€49.4B</a:t>
            </a:r>
            <a:endParaRPr lang="en-US" sz="5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Digital freight forwarding market (2026)</a:t>
            </a:r>
            <a:endParaRPr lang="en-US" sz="5200" dirty="0"/>
          </a:p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 </a:t>
            </a:r>
            <a:endParaRPr lang="en-US" sz="52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59E0B"/>
                </a:solidFill>
              </a:rPr>
              <a:t>19.2% CAGR</a:t>
            </a:r>
            <a:endParaRPr lang="en-US" sz="5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Growing to $119B by 2031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937760" y="10972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Sizing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937760" y="1645920"/>
            <a:ext cx="3657600" cy="685800"/>
          </a:xfrm>
          <a:prstGeom prst="rect">
            <a:avLst/>
          </a:prstGeom>
          <a:solidFill>
            <a:srgbClr val="0891B2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120640" y="166420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TAM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€2.1T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120640" y="199339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D4E8"/>
                </a:solidFill>
              </a:rPr>
              <a:t>EU SME cross-border trade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937760" y="2468880"/>
            <a:ext cx="3108960" cy="685800"/>
          </a:xfrm>
          <a:prstGeom prst="rect">
            <a:avLst/>
          </a:prstGeom>
          <a:solidFill>
            <a:srgbClr val="0E749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120640" y="248716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SAM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€180B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20640" y="28163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D4E8"/>
                </a:solidFill>
              </a:rPr>
              <a:t>Baltic + CEE SME exporters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7760" y="3291840"/>
            <a:ext cx="2560320" cy="685800"/>
          </a:xfrm>
          <a:prstGeom prst="rect">
            <a:avLst/>
          </a:prstGeom>
          <a:solidFill>
            <a:srgbClr val="0A1628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120640" y="3310128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SOM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€2.5B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120640" y="363931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D4E8"/>
                </a:solidFill>
              </a:rPr>
              <a:t>Lithuanian SME exporters (Year 1-3)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Eurostat ext_tec10, Mordor Intelligence Digital Freight Forwarding Report 2026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A16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Our Solution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platform. Every step of the export journey.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804672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08760"/>
            <a:ext cx="64008" cy="74980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627632"/>
            <a:ext cx="512064" cy="5120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6276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155448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Intelligence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54480" y="185623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market discovery: find buyers, identify high-growth destinations, track competitor activity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377440"/>
            <a:ext cx="804672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2377440"/>
            <a:ext cx="64008" cy="749808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2" name="Shape 10"/>
          <p:cNvSpPr/>
          <p:nvPr/>
        </p:nvSpPr>
        <p:spPr>
          <a:xfrm>
            <a:off x="822960" y="2496312"/>
            <a:ext cx="512064" cy="512064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49631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242316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Engine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554480" y="272491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customs declarations, EU regulatory checks, certificate management, sanctions screening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246120"/>
            <a:ext cx="804672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246120"/>
            <a:ext cx="64008" cy="749808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18" name="Shape 16"/>
          <p:cNvSpPr/>
          <p:nvPr/>
        </p:nvSpPr>
        <p:spPr>
          <a:xfrm>
            <a:off x="822960" y="3364992"/>
            <a:ext cx="512064" cy="512064"/>
          </a:xfrm>
          <a:prstGeom prst="ellipse">
            <a:avLst/>
          </a:prstGeom>
          <a:solidFill>
            <a:srgbClr val="0A1628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336499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54480" y="32918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 Orchestration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554480" y="359359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with carriers through marketplace integrations. We orchestrate, not own, the logistics layer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114800"/>
            <a:ext cx="8046720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4114800"/>
            <a:ext cx="64008" cy="7498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4" name="Shape 22"/>
          <p:cNvSpPr/>
          <p:nvPr/>
        </p:nvSpPr>
        <p:spPr>
          <a:xfrm>
            <a:off x="822960" y="4233672"/>
            <a:ext cx="512064" cy="51206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" y="423367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554480" y="416052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Finance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554480" y="446227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Invoice financing, payment collection, FX hedging tools — the missing layer no competitor addresses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4526280"/>
            <a:ext cx="8046720" cy="4114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4526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Asset-light model: orchestrate, don't own. Learned from €1.5B+ in failed logistics startups.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A16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1188720"/>
            <a:ext cx="1965960" cy="2926080"/>
          </a:xfrm>
          <a:prstGeom prst="rect">
            <a:avLst/>
          </a:prstGeom>
          <a:solidFill>
            <a:srgbClr val="F0F9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1188720"/>
            <a:ext cx="1965960" cy="6400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18872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02920" y="201168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02920" y="2468880"/>
            <a:ext cx="16916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 enters product details.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identifies best export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markets &amp; buyers.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331720" y="228600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891B2"/>
                </a:solidFill>
              </a:rPr>
              <a:t>▶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560320" y="1188720"/>
            <a:ext cx="1965960" cy="2926080"/>
          </a:xfrm>
          <a:prstGeom prst="rect">
            <a:avLst/>
          </a:prstGeom>
          <a:solidFill>
            <a:srgbClr val="F0F9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60320" y="1188720"/>
            <a:ext cx="1965960" cy="6400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1" name="Text 9"/>
          <p:cNvSpPr/>
          <p:nvPr/>
        </p:nvSpPr>
        <p:spPr>
          <a:xfrm>
            <a:off x="2560320" y="118872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697480" y="201168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697480" y="2468880"/>
            <a:ext cx="16916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compliance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checks, document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generation &amp; filing.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26280" y="228600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891B2"/>
                </a:solidFill>
              </a:rPr>
              <a:t>▶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754880" y="1188720"/>
            <a:ext cx="1965960" cy="2926080"/>
          </a:xfrm>
          <a:prstGeom prst="rect">
            <a:avLst/>
          </a:prstGeom>
          <a:solidFill>
            <a:srgbClr val="F0F9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54880" y="1188720"/>
            <a:ext cx="1965960" cy="6400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18872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4892040" y="201168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892040" y="2468880"/>
            <a:ext cx="16916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from matched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carriers. Real-time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tracking &amp; visibility.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20840" y="228600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891B2"/>
                </a:solidFill>
              </a:rPr>
              <a:t>▶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949440" y="1188720"/>
            <a:ext cx="1965960" cy="2926080"/>
          </a:xfrm>
          <a:prstGeom prst="rect">
            <a:avLst/>
          </a:prstGeom>
          <a:solidFill>
            <a:srgbClr val="F0F9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949440" y="1188720"/>
            <a:ext cx="1965960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3" name="Text 21"/>
          <p:cNvSpPr/>
          <p:nvPr/>
        </p:nvSpPr>
        <p:spPr>
          <a:xfrm>
            <a:off x="6949440" y="118872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7086600" y="201168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Paid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086600" y="2468880"/>
            <a:ext cx="16916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Invoice financing,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collection,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FX conversion.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4343400"/>
            <a:ext cx="8046720" cy="45720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434340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export process: from 14 days manual to 3 days with XaaS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A16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Competitive Landscape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European player covers all layers. Everyone specializes in 1-2.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97280"/>
                <a:gridCol w="1097280"/>
                <a:gridCol w="1097280"/>
                <a:gridCol w="1097280"/>
                <a:gridCol w="18288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Capability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sennder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Shippeo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E2open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Flexport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Intelligence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Compliance Automation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Logistics Orchestration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Visibility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 Financing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Analytics Dashboard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SME-Friendly Pricing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840480"/>
            <a:ext cx="8046720" cy="1005840"/>
          </a:xfrm>
          <a:prstGeom prst="rect">
            <a:avLst/>
          </a:prstGeom>
          <a:solidFill>
            <a:srgbClr val="FEF2F2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3840480"/>
            <a:ext cx="54864" cy="10058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3931920"/>
            <a:ext cx="7498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Lessons from €1.5B+ in failed logistics startups: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OnTruck ($90M, shut down) | InstaFreight (insolvent) | Convoy ($900M+, collapsed) | Forto ($617M, exploring sale)</a:t>
            </a:r>
            <a:endParaRPr lang="en-US" sz="12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 cause: execution-heavy models with thin margins. XaaS orchestrates — it does not own logistics.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A16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Target Industries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 on UN Comtrade data: Lithuania's top export sectors by value (2023)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463040"/>
            <a:ext cx="19659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86968" y="1691640"/>
            <a:ext cx="914400" cy="9144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886968" y="16916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33%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274320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€2.16B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10896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Machinery &amp;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Mechanical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60320" y="1463040"/>
            <a:ext cx="19659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081528" y="1691640"/>
            <a:ext cx="914400" cy="91440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1" name="Text 9"/>
          <p:cNvSpPr/>
          <p:nvPr/>
        </p:nvSpPr>
        <p:spPr>
          <a:xfrm>
            <a:off x="3081528" y="16916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33%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560320" y="274320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€2.14B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51760" y="310896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Electrical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Machinery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0" y="1463040"/>
            <a:ext cx="19659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276088" y="1691640"/>
            <a:ext cx="914400" cy="914400"/>
          </a:xfrm>
          <a:prstGeom prst="ellipse">
            <a:avLst/>
          </a:prstGeom>
          <a:solidFill>
            <a:srgbClr val="0A1628"/>
          </a:solidFill>
          <a:ln/>
        </p:spPr>
      </p:sp>
      <p:sp>
        <p:nvSpPr>
          <p:cNvPr id="16" name="Text 14"/>
          <p:cNvSpPr/>
          <p:nvPr/>
        </p:nvSpPr>
        <p:spPr>
          <a:xfrm>
            <a:off x="5276088" y="16916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17%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754880" y="274320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€1.12B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46320" y="310896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Mineral Fuels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Oil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949440" y="1463040"/>
            <a:ext cx="19659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70648" y="1691640"/>
            <a:ext cx="914400" cy="9144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7470648" y="16916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17%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949440" y="274320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€1.07B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040880" y="310896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Optical/Medical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Instruments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4023360"/>
            <a:ext cx="8046720" cy="6400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40233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4 product categories = 100% of sampled exports. Focused targeting is viable.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A16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Business Model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3840480" cy="1417320"/>
          </a:xfrm>
          <a:prstGeom prst="rect">
            <a:avLst/>
          </a:prstGeom>
          <a:solidFill>
            <a:srgbClr val="F0F9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48640" y="1097280"/>
            <a:ext cx="54864" cy="14173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914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40%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645920" y="1234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 Subscription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45920" y="16002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platform access: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 €99/mo, Growth €299/mo,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custom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3840480" cy="1417320"/>
          </a:xfrm>
          <a:prstGeom prst="rect">
            <a:avLst/>
          </a:prstGeom>
          <a:solidFill>
            <a:srgbClr val="F0F9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2743200"/>
            <a:ext cx="54864" cy="141732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834640"/>
            <a:ext cx="914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E74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35%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1645920" y="28803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 Fees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45920" y="324612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1-3% per shipment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orchestrated through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platform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1097280"/>
            <a:ext cx="3840480" cy="1417320"/>
          </a:xfrm>
          <a:prstGeom prst="rect">
            <a:avLst/>
          </a:prstGeom>
          <a:solidFill>
            <a:srgbClr val="F0F9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1097280"/>
            <a:ext cx="54864" cy="141732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1188720"/>
            <a:ext cx="914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A16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15%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5852160" y="1234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Services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852160" y="16002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Per-declaration pricing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customs automation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regulatory filings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54880" y="2743200"/>
            <a:ext cx="3840480" cy="1417320"/>
          </a:xfrm>
          <a:prstGeom prst="rect">
            <a:avLst/>
          </a:prstGeom>
          <a:solidFill>
            <a:srgbClr val="F0F9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2743200"/>
            <a:ext cx="54864" cy="14173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2834640"/>
            <a:ext cx="914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10%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5852160" y="28803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Finance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852160" y="324612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Referral commissions 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invoice financing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FX conversion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4434840"/>
            <a:ext cx="8046720" cy="41148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44348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€500K ARR by Year 2  |  Breakeven by Month 18  |  SaaS margins &gt; 70%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A16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Go-to-Market Strategy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1188720"/>
            <a:ext cx="265176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1188720"/>
            <a:ext cx="2651760" cy="8229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Validate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65760" y="21031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 1-6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246888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Lithuanian SME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exporters as pilot users.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 sector.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+ automated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approach.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65176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651760" cy="82296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1" name="Text 9"/>
          <p:cNvSpPr/>
          <p:nvPr/>
        </p:nvSpPr>
        <p:spPr>
          <a:xfrm>
            <a:off x="329184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91840" y="14630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Scale LT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291840" y="21031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 7-18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74720" y="246888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 Lithuanian SMEs.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compliance engine.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with Enterprise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Lithuania, LVPA.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revenue.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1188720"/>
            <a:ext cx="265176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17920" y="1188720"/>
            <a:ext cx="2651760" cy="822960"/>
          </a:xfrm>
          <a:prstGeom prst="rect">
            <a:avLst/>
          </a:prstGeom>
          <a:solidFill>
            <a:srgbClr val="0A1628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D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17920" y="14630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Expand Baltic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217920" y="21031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2-3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0" y="2468880"/>
            <a:ext cx="22860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Latvia, Estonia expansion.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 SMEs on platform.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 marketplace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integrations.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Series A fundraise.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A16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Team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1188720"/>
            <a:ext cx="2651760" cy="2926080"/>
          </a:xfrm>
          <a:prstGeom prst="rect">
            <a:avLst/>
          </a:prstGeom>
          <a:solidFill>
            <a:srgbClr val="F0F9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43000" y="1417320"/>
            <a:ext cx="1097280" cy="109728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141732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265176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Ieva Labutyte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29260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&amp; Strategy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24612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 cybersecurity sales.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acquisition.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research.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development.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651760" cy="2926080"/>
          </a:xfrm>
          <a:prstGeom prst="rect">
            <a:avLst/>
          </a:prstGeom>
          <a:solidFill>
            <a:srgbClr val="F0F9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069080" y="1417320"/>
            <a:ext cx="1097280" cy="109728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11" name="Text 9"/>
          <p:cNvSpPr/>
          <p:nvPr/>
        </p:nvSpPr>
        <p:spPr>
          <a:xfrm>
            <a:off x="4069080" y="141732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DZ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291840" y="265176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Danielius Zarkich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291840" y="29260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 &amp; Operations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74720" y="324612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chain expertise.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Carrier network building.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management.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optimization.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1188720"/>
            <a:ext cx="2651760" cy="2926080"/>
          </a:xfrm>
          <a:prstGeom prst="rect">
            <a:avLst/>
          </a:prstGeom>
          <a:solidFill>
            <a:srgbClr val="F0F9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995160" y="1417320"/>
            <a:ext cx="1097280" cy="1097280"/>
          </a:xfrm>
          <a:prstGeom prst="ellipse">
            <a:avLst/>
          </a:prstGeom>
          <a:solidFill>
            <a:srgbClr val="0A1628"/>
          </a:solidFill>
          <a:ln/>
        </p:spPr>
      </p:sp>
      <p:sp>
        <p:nvSpPr>
          <p:cNvPr id="17" name="Text 15"/>
          <p:cNvSpPr/>
          <p:nvPr/>
        </p:nvSpPr>
        <p:spPr>
          <a:xfrm>
            <a:off x="6995160" y="141732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DB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217920" y="265176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Dominykas Baronas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217920" y="29260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&amp; IT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0" y="324612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development.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architecture.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AI/ML integration.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DevOps &amp; infrastructure.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 Business School — Deep Tech Entrepreneurship Masters Program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Ask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3840480" cy="2011680"/>
          </a:xfrm>
          <a:prstGeom prst="rect">
            <a:avLst/>
          </a:prstGeom>
          <a:solidFill>
            <a:srgbClr val="0F2B4C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37160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D6A0"/>
                </a:solidFill>
              </a:rPr>
              <a:t>Pre-Seed: €150K</a:t>
            </a:r>
            <a:endParaRPr lang="en-US" sz="28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8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12-month runway to MVP + first 10 paying customers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840480" cy="2011680"/>
          </a:xfrm>
          <a:prstGeom prst="rect">
            <a:avLst/>
          </a:prstGeom>
          <a:solidFill>
            <a:srgbClr val="0F2B4C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937760" y="12801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of Funds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120640" y="1691640"/>
            <a:ext cx="3291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  Product Development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  Sales &amp; Customer Acquisition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 Compliance &amp; Legal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 Operations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3474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12-Month Milestones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931920"/>
            <a:ext cx="1874520" cy="640080"/>
          </a:xfrm>
          <a:prstGeom prst="rect">
            <a:avLst/>
          </a:prstGeom>
          <a:solidFill>
            <a:srgbClr val="0F2B4C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931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88720" y="3931920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Launch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651760" y="3931920"/>
            <a:ext cx="1874520" cy="640080"/>
          </a:xfrm>
          <a:prstGeom prst="rect">
            <a:avLst/>
          </a:prstGeom>
          <a:solidFill>
            <a:srgbClr val="0F2B4C"/>
          </a:solidFill>
          <a:ln/>
        </p:spPr>
      </p:sp>
      <p:sp>
        <p:nvSpPr>
          <p:cNvPr id="14" name="Text 12"/>
          <p:cNvSpPr/>
          <p:nvPr/>
        </p:nvSpPr>
        <p:spPr>
          <a:xfrm>
            <a:off x="2651760" y="3931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M6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291840" y="3931920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Pilot Users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3931920"/>
            <a:ext cx="1874520" cy="640080"/>
          </a:xfrm>
          <a:prstGeom prst="rect">
            <a:avLst/>
          </a:prstGeom>
          <a:solidFill>
            <a:srgbClr val="0F2B4C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3931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M9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94960" y="3931920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Revenue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858000" y="3931920"/>
            <a:ext cx="1874520" cy="640080"/>
          </a:xfrm>
          <a:prstGeom prst="rect">
            <a:avLst/>
          </a:prstGeom>
          <a:solidFill>
            <a:srgbClr val="0F2B4C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0" y="3931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M12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498080" y="3931920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Paying Customers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spc="400" kern="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XaaS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made simple.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92608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Ieva Labutyte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ieva.labutyte@nordsec.com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github.com/labutyteieva-jpg/xaas-capstone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XaaS - Export-as-a-Service Platform</dc:title>
  <dc:subject>PptxGenJS Presentation</dc:subject>
  <dc:creator>Ieva Labutyte</dc:creator>
  <cp:lastModifiedBy>Ieva Labutyte</cp:lastModifiedBy>
  <cp:revision>1</cp:revision>
  <dcterms:created xsi:type="dcterms:W3CDTF">2026-04-14T20:12:59Z</dcterms:created>
  <dcterms:modified xsi:type="dcterms:W3CDTF">2026-04-14T20:12:59Z</dcterms:modified>
</cp:coreProperties>
</file>