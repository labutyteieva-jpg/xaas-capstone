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A155E4-D6CF-459F-B3DB-2437A09524ED}">
  <a:tblStyle styleId="{8EA155E4-D6CF-459F-B3DB-2437A09524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XaaS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Export-as-a-Service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operating system for Lithuanian &amp; EU SME exporters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3152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Ieva Labutyte  |  Danielius Zarkich  |  Dominykas Baronas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VU Business School  |  Deep Tech Entrepreneurship  |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Lithuanian SMEs are under-represented in the largest export markets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55448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15%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25146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of LT exports to the 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come from SMEs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31520" y="32461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Eurostat ext_tec10 (2024)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383280" y="155448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8328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51%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566160" y="25146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of LT exports 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from SMEs nationally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566160" y="32461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Eurostat ext_tec10 (2024)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0" y="155448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5+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0" y="25146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separate tools needed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 manage one export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32461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Compliance, logistics, docs, payments, customs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SMEs trail the 51% benchmark most in large, distant markets large firms dominate (US, Singapore, Canada)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Market Opportunity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0A16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914400" y="1371600"/>
            <a:ext cx="32004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SME share of LT-US exports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SME share of LT exports (national)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-7.5%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LT goods exports YoY (2024)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Market Sizing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37760" y="1645920"/>
            <a:ext cx="3657600" cy="6858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120640" y="16642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€36.8B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120640" y="1993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All LT goods exports (2024)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937760" y="2468880"/>
            <a:ext cx="3108960" cy="685800"/>
          </a:xfrm>
          <a:prstGeom prst="rect">
            <a:avLst/>
          </a:prstGeom>
          <a:solidFill>
            <a:srgbClr val="0E749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120640" y="24871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€16.7B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120640" y="28163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LT SME exports (ext_tec10)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0" y="3291840"/>
            <a:ext cx="2560320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120640" y="331012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€1.5B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120640" y="36393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US underserved-market headroom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Sources: Statistics Lithuania (totals); Eurostat ext_tec10 (SME &amp; markets),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Our Solution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platform. Every step of the export journey.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48640" y="150876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48640" y="1508760"/>
            <a:ext cx="64008" cy="7498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822960" y="1627632"/>
            <a:ext cx="512064" cy="5120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22960" y="162763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554480" y="15544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Demand Intelligence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554480" y="185623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AI-powered market discovery: find buyers, identify high-growth destinations, track competitor 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237744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548640" y="2377440"/>
            <a:ext cx="64008" cy="7498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22960" y="2496312"/>
            <a:ext cx="512064" cy="512064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22960" y="24963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554480" y="24231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Compliance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554480" y="272491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Automated customs declarations, EU regulatory checks, certificate management, sanctions screening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48640" y="3246120"/>
            <a:ext cx="64008" cy="7498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3364992"/>
            <a:ext cx="512064" cy="512064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822960" y="336499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554480" y="32918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Logistics Orchestration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554480" y="359359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Connect with carriers through marketplace integrations. We orchestrate, not own, the logistics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411480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48640" y="4114800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22960" y="423367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22960" y="42336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554480" y="41605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Trade Finance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554480" y="446227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Invoice financing, payment collection, FX hedging tools — the missing layer no competitor addresses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90" y="4825930"/>
            <a:ext cx="8046600" cy="41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48640" y="476403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Asset-light model: orchestrate, don't own. Learned from €1.5B+ in failed logistics startups.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How It Works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1188720"/>
            <a:ext cx="19659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188720"/>
            <a:ext cx="196596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65760" y="11887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20116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2468880"/>
            <a:ext cx="1691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SME enters product details.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AI identifies best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markets &amp; buyers.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331720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560320" y="1188720"/>
            <a:ext cx="19659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560320" y="1188720"/>
            <a:ext cx="1965960" cy="6400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560320" y="11887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697480" y="20116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697480" y="2468880"/>
            <a:ext cx="1691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Automated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checks,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generation &amp; filing.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26280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754880" y="1188720"/>
            <a:ext cx="19659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754880" y="1188720"/>
            <a:ext cx="1965960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754880" y="11887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892040" y="20116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Ship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892040" y="2468880"/>
            <a:ext cx="1691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Select from matched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carriers. Real-time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tracking &amp; visibility.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949440" y="1188720"/>
            <a:ext cx="19659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949440" y="1188720"/>
            <a:ext cx="196596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949440" y="11887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086600" y="20116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Get Paid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086600" y="2468880"/>
            <a:ext cx="1691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Invoice financing,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payment collection,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FX conversion.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export process: from 14 days manual to 3 days with XaaS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Competitive Landscape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European player covers all layers. Everyone specializes in 1-2.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8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{8EA155E4-D6CF-459F-B3DB-2437A09524ED}</a:tableStyleId>
              </a:tblPr>
              <a:tblGrid>
                <a:gridCol w="1828800"/>
                <a:gridCol w="1097275"/>
                <a:gridCol w="1097275"/>
                <a:gridCol w="1097275"/>
                <a:gridCol w="1097275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Capability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sennder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Shippeo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E2open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Flexport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XaaS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Demand Intelligence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Automation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Logistics Orchestration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Visibility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Trade Financing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Analytics Dashboard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SME-Friendly Pricing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8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14400" y="393192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Lessons from €1.5B+ in failed logistics startups: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OnTruck ($90M, shut down) | InstaFreight (insolvent) | Convoy ($900M+, collapsed) | Forto ($617M, exploring sale)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Root cause: execution-heavy models with thin margins. XaaS orchestrates — it does not own logistics.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Target Industries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Lithuania's largest export sectors, 2024 (Statistics Lithuania)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65760" y="1463040"/>
            <a:ext cx="1965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886968" y="1691640"/>
            <a:ext cx="914400" cy="914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886968" y="1691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14.2%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65760" y="27432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of exports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3108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560320" y="1463040"/>
            <a:ext cx="1965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081528" y="1691640"/>
            <a:ext cx="914400" cy="9144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081528" y="1691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13.6%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560320" y="27432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of exports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651760" y="3108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Machinery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electrical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754880" y="1463040"/>
            <a:ext cx="1965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276088" y="1691640"/>
            <a:ext cx="914400" cy="91440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276088" y="1691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11.2%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754880" y="27432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of exports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846320" y="3108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Chemical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949440" y="1463040"/>
            <a:ext cx="1965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470648" y="169164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470648" y="1691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6.9%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949440" y="27432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of exports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040880" y="3108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Furniture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Manufacturing &amp; machinery exporters are the initial target (shares: Statistics Lithuania, 2024).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Business Model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8640" y="1097280"/>
            <a:ext cx="3840480" cy="141732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48640" y="109728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731520" y="1188720"/>
            <a:ext cx="914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40%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64592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SaaS Subscription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645920" y="16002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Monthly platform access: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Starter €99/mo, Growth €299/mo,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Enterprise custom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8640" y="2743200"/>
            <a:ext cx="3840480" cy="141732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548640" y="2743200"/>
            <a:ext cx="54864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731520" y="2834640"/>
            <a:ext cx="914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0E7490"/>
                </a:solidFill>
                <a:latin typeface="Arial Black"/>
                <a:ea typeface="Arial Black"/>
                <a:cs typeface="Arial Black"/>
                <a:sym typeface="Arial Black"/>
              </a:rPr>
              <a:t>35%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645920" y="28803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Transaction Fees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645920" y="324612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1-3% per shipment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orchestrated 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754880" y="1097280"/>
            <a:ext cx="3840480" cy="141732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754880" y="1097280"/>
            <a:ext cx="54864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937760" y="1188720"/>
            <a:ext cx="914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15%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85216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Compliance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852160" y="16002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Per-declaration pricing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for customs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and regulatory filings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754880" y="2743200"/>
            <a:ext cx="3840480" cy="141732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754880" y="274320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937760" y="2834640"/>
            <a:ext cx="914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10%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852160" y="28803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Trade Finance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852160" y="324612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Referral commissions 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invoice financing 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FX conversion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Target: €500K ARR by Year 2  |  Breakeven by Month 18  |  SaaS margins &gt; 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Go-to-Market Strategy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365760" y="1188720"/>
            <a:ext cx="2651760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65760" y="11887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D4E8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65760" y="1463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Validate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6576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Months 1-6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48640" y="2468880"/>
            <a:ext cx="2286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 Lithuanian SME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exporters as pilot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Manufacturing sector.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Manual + automated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hybrid approach.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3291840" y="1188720"/>
            <a:ext cx="2651760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D4E8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Scale LT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Months 7-18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474720" y="2468880"/>
            <a:ext cx="2286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100+ Lithuanian SMEs.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Full compliance engine.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Partner with Enterprise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Lithuania, LVPA.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First revenue.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6217920" y="1188720"/>
            <a:ext cx="265176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D4E8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Expand Baltic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21792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Year 2-3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400800" y="2468880"/>
            <a:ext cx="2286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Latvia, Estonia expansion.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500+ SMEs on platform.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Logistics marketplace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integrations.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Series A fundraise.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A1628"/>
                </a:solidFill>
                <a:latin typeface="Arial Black"/>
                <a:ea typeface="Arial Black"/>
                <a:cs typeface="Arial Black"/>
                <a:sym typeface="Arial Black"/>
              </a:rPr>
              <a:t>The Team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1143000" y="1417320"/>
            <a:ext cx="1097280" cy="10972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143000" y="14173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65760" y="26517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Ieva Labutyte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65760" y="29260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Sales &amp;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48640" y="32461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SaaS cybersecurity sales.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acquisition.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Market research.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Business development.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069080" y="1417320"/>
            <a:ext cx="1097280" cy="10972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069080" y="14173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DZ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291840" y="26517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Danielius Zarkich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291840" y="29260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Logistics &amp;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474720" y="32461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Supply chain expertise.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Carrier network building.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Operations management.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Process optimization.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995160" y="1417320"/>
            <a:ext cx="1097280" cy="109728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6995160" y="14173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217920" y="26517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Dominykas Baronas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217920" y="29260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Technology &amp;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400800" y="32461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Full-stack development.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Platform architecture.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AI/ML integration.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DevOps &amp; infrastructure.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VU Business School — Deep Tech Entrepreneurship Masters Program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Ask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48640" y="1188720"/>
            <a:ext cx="3840480" cy="2011680"/>
          </a:xfrm>
          <a:prstGeom prst="rect">
            <a:avLst/>
          </a:prstGeom>
          <a:solidFill>
            <a:srgbClr val="0F2B4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914400" y="137160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Pre-Seed: €150K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12-month runway to MVP + first 10 paying customers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754880" y="1188720"/>
            <a:ext cx="3840480" cy="2011680"/>
          </a:xfrm>
          <a:prstGeom prst="rect">
            <a:avLst/>
          </a:prstGeom>
          <a:solidFill>
            <a:srgbClr val="0F2B4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Use of Funds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120640" y="169164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  Product Development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25%  Sales &amp; Customer Acquisition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  Compliance &amp; Legal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12-Month Milestones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48640" y="3931920"/>
            <a:ext cx="1874520" cy="64008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M3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188720" y="39319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2651760" y="3931920"/>
            <a:ext cx="1874520" cy="64008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265176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M6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3291840" y="39319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Pilot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754880" y="3931920"/>
            <a:ext cx="1874520" cy="64008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475488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M9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394960" y="39319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858000" y="3931920"/>
            <a:ext cx="1874520" cy="64008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685800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M12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498080" y="39319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Paying 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400"/>
              <a:buFont typeface="Arial Black"/>
              <a:buNone/>
            </a:pPr>
            <a:r>
              <a:rPr b="0" i="0" lang="en-US" sz="6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XaaS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 made simple.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github.com/labutyteieva-jpg/xaas-capstone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